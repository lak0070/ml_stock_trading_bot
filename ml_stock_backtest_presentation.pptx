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50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-191244"/>
            <a:ext cx="808329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75"/>
              </a:lnSpc>
              <a:buNone/>
            </a:pPr>
            <a:r>
              <a:rPr lang="en-US" sz="825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📈</a:t>
            </a:r>
            <a:endParaRPr lang="en-US" sz="8250" dirty="0"/>
          </a:p>
        </p:txBody>
      </p:sp>
      <p:sp>
        <p:nvSpPr>
          <p:cNvPr id="3" name="Text 1"/>
          <p:cNvSpPr/>
          <p:nvPr/>
        </p:nvSpPr>
        <p:spPr>
          <a:xfrm>
            <a:off x="609600" y="1532781"/>
            <a:ext cx="7924800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640"/>
              </a:lnSpc>
              <a:buNone/>
            </a:pPr>
            <a:r>
              <a:rPr lang="en-US" sz="5760" dirty="0">
                <a:solidFill>
                  <a:srgbClr val="F97316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ML Stock Trading Backtest</a:t>
            </a:r>
            <a:endParaRPr lang="en-US" sz="5760" dirty="0"/>
          </a:p>
        </p:txBody>
      </p:sp>
      <p:sp>
        <p:nvSpPr>
          <p:cNvPr id="4" name="Text 2"/>
          <p:cNvSpPr/>
          <p:nvPr/>
        </p:nvSpPr>
        <p:spPr>
          <a:xfrm>
            <a:off x="609600" y="3879503"/>
            <a:ext cx="7924800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r>
              <a:rPr lang="en-US" sz="1620" dirty="0">
                <a:solidFill>
                  <a:srgbClr val="A1A1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Problem, approach, decisions, challenges, learning</a:t>
            </a:r>
            <a:endParaRPr lang="en-US" sz="1620" dirty="0"/>
          </a:p>
        </p:txBody>
      </p:sp>
      <p:sp>
        <p:nvSpPr>
          <p:cNvPr id="5" name="Text 3"/>
          <p:cNvSpPr/>
          <p:nvPr/>
        </p:nvSpPr>
        <p:spPr>
          <a:xfrm>
            <a:off x="914400" y="4801344"/>
            <a:ext cx="731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structured presentation based on a Python project that predicts next-day direction for Indian stocks using technical indicators and a Random Forest classifier.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1594"/>
            <a:ext cx="3848100" cy="3262313"/>
          </a:xfrm>
          <a:prstGeom prst="roundRect">
            <a:avLst>
              <a:gd name="adj" fmla="val 6727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321594"/>
            <a:ext cx="3848100" cy="3262313"/>
          </a:xfrm>
          <a:prstGeom prst="roundRect">
            <a:avLst>
              <a:gd name="adj" fmla="val 6727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559594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7725" y="1559719"/>
            <a:ext cx="3371850" cy="2786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Stock markets generate large amounts of price data every day, which makes them a strong use case for data analysis and machine learning. Instead of depending only on intuition, this project explores whether technical indicators can support more systematic trading decisions.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24425" y="1559719"/>
            <a:ext cx="3371850" cy="216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project focuses on Indian stocks, uses historical market data from Yahoo Finance, and converts model predictions into an actual backtesting process with buy, sell, stop-loss, and capital management rules.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91394"/>
            <a:ext cx="7924800" cy="1419225"/>
          </a:xfrm>
          <a:prstGeom prst="roundRect">
            <a:avLst>
              <a:gd name="adj" fmla="val 15463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39219"/>
            <a:ext cx="2489150" cy="1474738"/>
          </a:xfrm>
          <a:prstGeom prst="roundRect">
            <a:avLst>
              <a:gd name="adj" fmla="val 14881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27350" y="3039219"/>
            <a:ext cx="2489150" cy="1474738"/>
          </a:xfrm>
          <a:prstGeom prst="roundRect">
            <a:avLst>
              <a:gd name="adj" fmla="val 14881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45101" y="3039219"/>
            <a:ext cx="2489299" cy="1474738"/>
          </a:xfrm>
          <a:prstGeom prst="roundRect">
            <a:avLst>
              <a:gd name="adj" fmla="val 14881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29394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7725" y="1629519"/>
            <a:ext cx="74485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main problem is to predict whether the next trading day will close higher or lower and then use that prediction to simulate profitable and controlled trades.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7725" y="3277344"/>
            <a:ext cx="2053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7725" y="3658344"/>
            <a:ext cx="2012900" cy="61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Historical OHLC price data for RELIANCE.NS and INFY.NS.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565475" y="3277344"/>
            <a:ext cx="2053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5475" y="3658344"/>
            <a:ext cx="2012900" cy="61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Classify next-day movement as positive or negative using engineered indicators.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283226" y="3277344"/>
            <a:ext cx="20533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Output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83226" y="3658344"/>
            <a:ext cx="2013049" cy="61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Trading actions and portfolio growth measured through backtesting metrics.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00225"/>
            <a:ext cx="3848100" cy="2305050"/>
          </a:xfrm>
          <a:prstGeom prst="roundRect">
            <a:avLst>
              <a:gd name="adj" fmla="val 9520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800225"/>
            <a:ext cx="3848100" cy="2305050"/>
          </a:xfrm>
          <a:prstGeom prst="roundRect">
            <a:avLst>
              <a:gd name="adj" fmla="val 9520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038225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Advantages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7725" y="2038350"/>
            <a:ext cx="337185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objective rules instead of emotional decision-making.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Combines technical indicators with machine learning classification.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Includes stop loss and position sizing for basic risk control.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24425" y="2038350"/>
            <a:ext cx="337185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be extended to more stocks and more features.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Produces measurable outputs like return, Sharpe ratio, and drawdown.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understand the full workflow from data collection to evaluation.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5316"/>
            <a:ext cx="2489150" cy="1794867"/>
          </a:xfrm>
          <a:prstGeom prst="roundRect">
            <a:avLst>
              <a:gd name="adj" fmla="val 12226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2055316"/>
            <a:ext cx="2489150" cy="1794867"/>
          </a:xfrm>
          <a:prstGeom prst="roundRect">
            <a:avLst>
              <a:gd name="adj" fmla="val 12226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2055316"/>
            <a:ext cx="2489299" cy="1794867"/>
          </a:xfrm>
          <a:prstGeom prst="roundRect">
            <a:avLst>
              <a:gd name="adj" fmla="val 122269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293316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Disadvantages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7725" y="2293441"/>
            <a:ext cx="20531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📉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47725" y="2788741"/>
            <a:ext cx="2012900" cy="82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strategy depends heavily on historical patterns, which may not repeat in future markets.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565475" y="2293441"/>
            <a:ext cx="20531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💰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65475" y="2788741"/>
            <a:ext cx="2012900" cy="82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current code does not include brokerage, taxes, slippage, or transaction costs.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283226" y="2293441"/>
            <a:ext cx="20533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🧪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283226" y="2788741"/>
            <a:ext cx="2013049" cy="61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Only a few indicators and two stocks are tested, so generalization is limited.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85242"/>
            <a:ext cx="3848100" cy="2818507"/>
          </a:xfrm>
          <a:prstGeom prst="roundRect">
            <a:avLst>
              <a:gd name="adj" fmla="val 7786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7725" y="1223367"/>
            <a:ext cx="1224260" cy="303907"/>
          </a:xfrm>
          <a:prstGeom prst="roundRect">
            <a:avLst>
              <a:gd name="adj" fmla="val 30058064"/>
            </a:avLst>
          </a:prstGeom>
          <a:solidFill>
            <a:srgbClr val="14B8A6">
              <a:alpha val="16000"/>
            </a:srgbClr>
          </a:solidFill>
          <a:ln w="9525">
            <a:solidFill>
              <a:srgbClr val="14B8A6"/>
            </a:solidFill>
          </a:ln>
        </p:spPr>
        <p:txBody>
          <a:bodyPr wrap="square" lIns="106680" tIns="106680" rIns="106680" bIns="10668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36" dirty="0">
                <a:solidFill>
                  <a:srgbClr val="99F6E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 chose</a:t>
            </a:r>
            <a:endParaRPr lang="en-US" sz="936" dirty="0"/>
          </a:p>
        </p:txBody>
      </p:sp>
      <p:sp>
        <p:nvSpPr>
          <p:cNvPr id="4" name="Text 2"/>
          <p:cNvSpPr/>
          <p:nvPr/>
        </p:nvSpPr>
        <p:spPr>
          <a:xfrm>
            <a:off x="4686300" y="985242"/>
            <a:ext cx="3848100" cy="2818507"/>
          </a:xfrm>
          <a:prstGeom prst="roundRect">
            <a:avLst>
              <a:gd name="adj" fmla="val 7786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24425" y="1223367"/>
            <a:ext cx="1378148" cy="303907"/>
          </a:xfrm>
          <a:prstGeom prst="roundRect">
            <a:avLst>
              <a:gd name="adj" fmla="val 30058064"/>
            </a:avLst>
          </a:prstGeom>
          <a:solidFill>
            <a:srgbClr val="14B8A6">
              <a:alpha val="16000"/>
            </a:srgbClr>
          </a:solidFill>
          <a:ln w="9525">
            <a:solidFill>
              <a:srgbClr val="14B8A6"/>
            </a:solidFill>
          </a:ln>
        </p:spPr>
        <p:txBody>
          <a:bodyPr wrap="square" lIns="106680" tIns="106680" rIns="106680" bIns="10668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36" dirty="0">
                <a:solidFill>
                  <a:srgbClr val="99F6E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it matters</a:t>
            </a:r>
            <a:endParaRPr lang="en-US" sz="936" dirty="0"/>
          </a:p>
        </p:txBody>
      </p:sp>
      <p:sp>
        <p:nvSpPr>
          <p:cNvPr id="6" name="Text 4"/>
          <p:cNvSpPr/>
          <p:nvPr/>
        </p:nvSpPr>
        <p:spPr>
          <a:xfrm>
            <a:off x="609600" y="4032349"/>
            <a:ext cx="7924800" cy="887909"/>
          </a:xfrm>
          <a:prstGeom prst="roundRect">
            <a:avLst>
              <a:gd name="adj" fmla="val 24716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223242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47725" y="1679674"/>
            <a:ext cx="33718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a rule-based backtesting workflow that uses machine learning predictions to decide when to buy or sell </a:t>
            </a:r>
            <a:r>
              <a:rPr lang="en-US" sz="1800" b="1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RELIANCE.NS</a:t>
            </a: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</a:t>
            </a:r>
            <a:r>
              <a:rPr lang="en-US" sz="1800" b="1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INFY.NS</a:t>
            </a: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24425" y="1679674"/>
            <a:ext cx="3371850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63"/>
              </a:lnSpc>
              <a:buNone/>
            </a:pPr>
            <a:r>
              <a:rPr lang="en-US" sz="150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trading decisions are often emotional and inconsistent. A backtest helps check whether a data-driven method could behave better than intuition.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7725" y="4270474"/>
            <a:ext cx="7448550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goal was not to guarantee profit, but to design a complete pipeline: collect data, engineer indicators, train a model, simulate trades, measure performance, and visualize results.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06587"/>
            <a:ext cx="2489150" cy="2892326"/>
          </a:xfrm>
          <a:prstGeom prst="roundRect">
            <a:avLst>
              <a:gd name="adj" fmla="val 881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506587"/>
            <a:ext cx="2489150" cy="2892326"/>
          </a:xfrm>
          <a:prstGeom prst="roundRect">
            <a:avLst>
              <a:gd name="adj" fmla="val 881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506587"/>
            <a:ext cx="2489299" cy="2892326"/>
          </a:xfrm>
          <a:prstGeom prst="roundRect">
            <a:avLst>
              <a:gd name="adj" fmla="val 8816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744587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Why This Problem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7725" y="1744712"/>
            <a:ext cx="20531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🧠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47725" y="2240012"/>
            <a:ext cx="2012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Combines ML + Finance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7725" y="2925812"/>
            <a:ext cx="2012900" cy="1234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project links classification, feature engineering, risk management, and evaluation in one real-world use case.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65475" y="1744712"/>
            <a:ext cx="20531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⚙️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565475" y="2240012"/>
            <a:ext cx="2053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Practical Pipeline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5475" y="2621012"/>
            <a:ext cx="2012900" cy="1029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moves beyond model accuracy by testing actual trade execution, position sizing, stop loss, and capital tracking.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283226" y="1744712"/>
            <a:ext cx="20533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📊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283226" y="2240012"/>
            <a:ext cx="20130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Measurable Outcome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83226" y="2925812"/>
            <a:ext cx="2013049" cy="1029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strategy can be judged using return, Sharpe ratio, max drawdown, and equity curve behavior instead of vague claims.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90675"/>
            <a:ext cx="1462980" cy="2724150"/>
          </a:xfrm>
          <a:prstGeom prst="roundRect">
            <a:avLst>
              <a:gd name="adj" fmla="val 1500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24980" y="1590675"/>
            <a:ext cx="1462980" cy="2724150"/>
          </a:xfrm>
          <a:prstGeom prst="roundRect">
            <a:avLst>
              <a:gd name="adj" fmla="val 1500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40361" y="1590675"/>
            <a:ext cx="1463129" cy="2724150"/>
          </a:xfrm>
          <a:prstGeom prst="roundRect">
            <a:avLst>
              <a:gd name="adj" fmla="val 14999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55890" y="1590675"/>
            <a:ext cx="1462980" cy="2724150"/>
          </a:xfrm>
          <a:prstGeom prst="roundRect">
            <a:avLst>
              <a:gd name="adj" fmla="val 150006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71271" y="1590675"/>
            <a:ext cx="1463129" cy="2724150"/>
          </a:xfrm>
          <a:prstGeom prst="roundRect">
            <a:avLst>
              <a:gd name="adj" fmla="val 149991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828675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System Workflow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47725" y="1828800"/>
            <a:ext cx="1006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47725" y="2247900"/>
            <a:ext cx="9867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Download stock data from Yahoo Finance from 2020 to today.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3105" y="1828800"/>
            <a:ext cx="1006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463105" y="2247900"/>
            <a:ext cx="98673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features: daily return, SMA 10, SMA 50, RSI.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78486" y="1828800"/>
            <a:ext cx="10066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078486" y="2247900"/>
            <a:ext cx="98687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binary target: whether next day's return is positive.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94015" y="1828800"/>
            <a:ext cx="1006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694015" y="2247900"/>
            <a:ext cx="98673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 Random Forest on first 70% of samples and predict the remaining 30%.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09396" y="1828800"/>
            <a:ext cx="10066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309396" y="2247900"/>
            <a:ext cx="98687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 backtest with position size, stop loss, and portfolio tracking.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22772"/>
            <a:ext cx="3848100" cy="1718667"/>
          </a:xfrm>
          <a:prstGeom prst="roundRect">
            <a:avLst>
              <a:gd name="adj" fmla="val 12769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222772"/>
            <a:ext cx="3848100" cy="1718667"/>
          </a:xfrm>
          <a:prstGeom prst="roundRect">
            <a:avLst>
              <a:gd name="adj" fmla="val 12769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70039"/>
            <a:ext cx="3848100" cy="1512838"/>
          </a:xfrm>
          <a:prstGeom prst="roundRect">
            <a:avLst>
              <a:gd name="adj" fmla="val 14506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170039"/>
            <a:ext cx="3848100" cy="1512838"/>
          </a:xfrm>
          <a:prstGeom prst="roundRect">
            <a:avLst>
              <a:gd name="adj" fmla="val 145062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460772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Key Decisions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7725" y="1460897"/>
            <a:ext cx="34392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choice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7725" y="1879997"/>
            <a:ext cx="3371850" cy="823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 used </a:t>
            </a:r>
            <a:r>
              <a:rPr lang="en-US" sz="1080" b="1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RandomForestClassifier</a:t>
            </a: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because it handles nonlinear patterns better than a simple linear rule and works well without heavy feature scaling.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924425" y="1460897"/>
            <a:ext cx="34392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Indicators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24425" y="1879997"/>
            <a:ext cx="3371850" cy="61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 selected </a:t>
            </a:r>
            <a:r>
              <a:rPr lang="en-US" sz="1080" b="1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SMA_10</a:t>
            </a: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</a:t>
            </a:r>
            <a:r>
              <a:rPr lang="en-US" sz="1080" b="1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SMA_50</a:t>
            </a: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and </a:t>
            </a:r>
            <a:r>
              <a:rPr lang="en-US" sz="1080" b="1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RSI</a:t>
            </a: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because they are easy to interpret and represent short trend, longer trend, and momentum.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47725" y="3408164"/>
            <a:ext cx="34392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design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7725" y="3827264"/>
            <a:ext cx="3371850" cy="61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Each trade uses 10% of current capital, with a 2% stop loss, so the backtest includes basic downside control instead of full-capital entries.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924425" y="3408164"/>
            <a:ext cx="34392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Train/test split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24425" y="3827264"/>
            <a:ext cx="3371850" cy="61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split is chronological, not random, which is more realistic for time-series prediction because future data should not leak into training.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51322"/>
            <a:ext cx="2489150" cy="2686496"/>
          </a:xfrm>
          <a:prstGeom prst="roundRect">
            <a:avLst>
              <a:gd name="adj" fmla="val 881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051322"/>
            <a:ext cx="2489150" cy="2686496"/>
          </a:xfrm>
          <a:prstGeom prst="roundRect">
            <a:avLst>
              <a:gd name="adj" fmla="val 88165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051322"/>
            <a:ext cx="2489299" cy="2686496"/>
          </a:xfrm>
          <a:prstGeom prst="roundRect">
            <a:avLst>
              <a:gd name="adj" fmla="val 8816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966418"/>
            <a:ext cx="7924800" cy="887909"/>
          </a:xfrm>
          <a:prstGeom prst="roundRect">
            <a:avLst>
              <a:gd name="adj" fmla="val 24716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89322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Challenges Faced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47725" y="1289447"/>
            <a:ext cx="20531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⏱️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47725" y="1784747"/>
            <a:ext cx="2012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Time-series realism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7725" y="2470547"/>
            <a:ext cx="2012900" cy="1029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 stock data, random shuffling breaks the sequence. I had to preserve time order while still making a train/test split.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565475" y="1289447"/>
            <a:ext cx="20531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🧹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565475" y="1784747"/>
            <a:ext cx="2053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5475" y="2165747"/>
            <a:ext cx="2012900" cy="1029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Indicators like moving averages and RSI create NaN values at the beginning, so the dataset must be cleaned before modeling.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283226" y="1289447"/>
            <a:ext cx="20533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💸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283226" y="1784747"/>
            <a:ext cx="20130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Strategy vs model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83226" y="2470547"/>
            <a:ext cx="2013049" cy="1029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correct prediction does not always mean a good trading result. Execution rules, trade size, and exits affect final performance.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47725" y="4204543"/>
            <a:ext cx="7448550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Another important challenge is that the current script does not include transaction costs, slippage, or benchmark comparison, so results may look better than live trading.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00225"/>
            <a:ext cx="3848100" cy="2305050"/>
          </a:xfrm>
          <a:prstGeom prst="roundRect">
            <a:avLst>
              <a:gd name="adj" fmla="val 9520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800225"/>
            <a:ext cx="3848100" cy="2305050"/>
          </a:xfrm>
          <a:prstGeom prst="roundRect">
            <a:avLst>
              <a:gd name="adj" fmla="val 95207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038225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What I Learned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47725" y="2038350"/>
            <a:ext cx="337185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engineering strongly shapes model usefulness.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Backtesting is more than prediction; it is also portfolio simulation.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control can matter as much as model selection.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24425" y="2038350"/>
            <a:ext cx="337185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profitable-looking strategy still needs realistic assumptions.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Finance problems require careful evaluation, not just high accuracy.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Reproducible code structure makes future improvement easier.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896838"/>
            <a:ext cx="3848100" cy="3464123"/>
          </a:xfrm>
          <a:prstGeom prst="roundRect">
            <a:avLst>
              <a:gd name="adj" fmla="val 47513"/>
            </a:avLst>
          </a:prstGeom>
          <a:solidFill>
            <a:srgbClr val="0B0B0E"/>
          </a:solidFill>
          <a:ln w="9525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def add_indicators(df):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df['Return'] = df['Close'].pct_change()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df['SMA_10'] = df['Close'].rolling(10).mean()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df['SMA_50'] = df['Close'].rolling(50).mean()</a:t>
            </a:r>
            <a:endParaRPr lang="en-US" sz="936" dirty="0"/>
          </a:p>
          <a:p>
            <a:pPr marL="0" indent="0" algn="l">
              <a:buNone/>
            </a:pP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delta = df['Close'].diff()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gain = (delta.where(delta &gt; 0, 0)).rolling(14).mean()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loss = (-delta.where(delta &lt; 0, 0)).rolling(14).mean()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rs = gain / loss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df['RSI'] = 100 - (100 / (1 + rs))</a:t>
            </a:r>
            <a:endParaRPr lang="en-US" sz="936" dirty="0"/>
          </a:p>
          <a:p>
            <a:pPr marL="0" indent="0" algn="l">
              <a:buNone/>
            </a:pP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df['Target'] = np.where(df['Return'].shift(-1) &gt; 0, 1, 0)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return df.dropna()</a:t>
            </a:r>
            <a:endParaRPr lang="en-US" sz="936" dirty="0"/>
          </a:p>
        </p:txBody>
      </p:sp>
      <p:sp>
        <p:nvSpPr>
          <p:cNvPr id="3" name="Text 1"/>
          <p:cNvSpPr/>
          <p:nvPr/>
        </p:nvSpPr>
        <p:spPr>
          <a:xfrm>
            <a:off x="4686300" y="896838"/>
            <a:ext cx="3848100" cy="3464123"/>
          </a:xfrm>
          <a:prstGeom prst="roundRect">
            <a:avLst>
              <a:gd name="adj" fmla="val 47513"/>
            </a:avLst>
          </a:prstGeom>
          <a:solidFill>
            <a:srgbClr val="0B0B0E"/>
          </a:solidFill>
          <a:ln w="9525">
            <a:solidFill>
              <a:srgbClr val="FFFFFF"/>
            </a:solidFill>
          </a:ln>
        </p:spPr>
        <p:txBody>
          <a:bodyPr wrap="square" lIns="171450" tIns="171450" rIns="171450" bIns="171450" rtlCol="0" anchor="t">
            <a:normAutofit/>
          </a:bodyPr>
          <a:lstStyle/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 = RandomForestClassifier(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n_estimators=200,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max_depth=5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model.fit(X_train, y_train)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preds = model.predict(X_test)</a:t>
            </a:r>
            <a:endParaRPr lang="en-US" sz="936" dirty="0"/>
          </a:p>
          <a:p>
            <a:pPr marL="0" indent="0" algn="l">
              <a:buNone/>
            </a:pP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if int(preds[i]) == 1 and shares == 0: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shares = position_size // price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elif shares &gt; 0 and price &lt; buy_price * (1 - stop_loss_pct):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balance += shares * price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elif int(preds[i]) == 0 and shares &gt; 0:</a:t>
            </a:r>
            <a:endParaRPr lang="en-US" sz="936" dirty="0"/>
          </a:p>
          <a:p>
            <a:pPr marL="0" indent="0" algn="l">
              <a:buNone/>
            </a:pPr>
            <a:r>
              <a:rPr lang="en-US" sz="936" dirty="0">
                <a:solidFill>
                  <a:srgbClr val="E4E4E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balance += shares * price</a:t>
            </a:r>
            <a:endParaRPr lang="en-US" sz="936" dirty="0"/>
          </a:p>
        </p:txBody>
      </p:sp>
      <p:sp>
        <p:nvSpPr>
          <p:cNvPr id="4" name="Text 2"/>
          <p:cNvSpPr/>
          <p:nvPr/>
        </p:nvSpPr>
        <p:spPr>
          <a:xfrm>
            <a:off x="609600" y="134838"/>
            <a:ext cx="8083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dirty="0">
                <a:solidFill>
                  <a:srgbClr val="FAFAF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Code Highlights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600" y="4551462"/>
            <a:ext cx="792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blocks show the core logic: technical indicator creation, target construction, model training, and trade execution rules.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8C396A-ECB0-58EF-71C9-4802A279E7AF}"/>
              </a:ext>
            </a:extLst>
          </p:cNvPr>
          <p:cNvSpPr txBox="1"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A92ECA-FF8C-1E54-AACE-8E835B8B3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1583202"/>
            <a:ext cx="8495662" cy="312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06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61E7E-8675-E4D8-2CA4-7F4B9B412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651"/>
            <a:ext cx="9144000" cy="484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38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24238"/>
            <a:ext cx="2489150" cy="1390650"/>
          </a:xfrm>
          <a:prstGeom prst="roundRect">
            <a:avLst>
              <a:gd name="adj" fmla="val 15780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3424238"/>
            <a:ext cx="2489150" cy="1390650"/>
          </a:xfrm>
          <a:prstGeom prst="roundRect">
            <a:avLst>
              <a:gd name="adj" fmla="val 15780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3424238"/>
            <a:ext cx="2489299" cy="1390650"/>
          </a:xfrm>
          <a:prstGeom prst="roundRect">
            <a:avLst>
              <a:gd name="adj" fmla="val 15780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328613"/>
            <a:ext cx="8083296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75"/>
              </a:lnSpc>
              <a:buNone/>
            </a:pPr>
            <a:r>
              <a:rPr lang="en-US" sz="825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🚀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530352" y="2090738"/>
            <a:ext cx="808329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100"/>
              </a:lnSpc>
              <a:buNone/>
            </a:pPr>
            <a:r>
              <a:rPr lang="en-US" sz="5400" dirty="0">
                <a:solidFill>
                  <a:srgbClr val="F97316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Next Improvements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47725" y="3662362"/>
            <a:ext cx="2012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transaction costs, slippage, and brokerage to make results more realistic.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5475" y="3662362"/>
            <a:ext cx="20129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 more features such as MACD, volume-based indicators, and volatility measures.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83226" y="3662362"/>
            <a:ext cx="201304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Compare against buy-and-hold and try walk-forward validation instead of one fixed split.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1172</Words>
  <Application>Microsoft Office PowerPoint</Application>
  <PresentationFormat>On-screen Show (16:9)</PresentationFormat>
  <Paragraphs>130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Archivo Black</vt:lpstr>
      <vt:lpstr>Arial</vt:lpstr>
      <vt:lpstr>ui-monospace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Bhupesh Joshi</cp:lastModifiedBy>
  <cp:revision>2</cp:revision>
  <dcterms:created xsi:type="dcterms:W3CDTF">2026-03-29T10:56:40Z</dcterms:created>
  <dcterms:modified xsi:type="dcterms:W3CDTF">2026-03-29T11:17:00Z</dcterms:modified>
</cp:coreProperties>
</file>